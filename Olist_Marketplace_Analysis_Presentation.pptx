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OLIST MARKETPLACE ANALYSIS</a:t>
            </a:r>
          </a:p>
          <a:p>
            <a:pPr>
              <a:spcAft>
                <a:spcPts val="3500"/>
              </a:spcAft>
              <a:defRPr sz="2000">
                <a:solidFill>
                  <a:srgbClr val="A8DADC"/>
                </a:solidFill>
              </a:defRPr>
            </a:pPr>
            <a:r>
              <a:t>What Really Drives Customer Satisfaction on Brazil's Largest Marketplace Integrator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Data Analytics Hackathon - Gradient Learnings | September 2026</a:t>
            </a:r>
          </a:p>
          <a:p>
            <a:pPr>
              <a:defRPr sz="1500" b="1">
                <a:solidFill>
                  <a:srgbClr val="E76F51"/>
                </a:solidFill>
              </a:defRPr>
            </a:pPr>
            <a:r>
              <a:t>Team GenWin: Swati Dubey (Leader) &amp; Nitanshu Tak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57B9D"/>
                </a:solidFill>
              </a:defRPr>
            </a:pPr>
            <a:r>
              <a:t>OLIST MARKETPLACE ANALYTICS</a:t>
            </a:r>
          </a:p>
          <a:p>
            <a:pPr>
              <a:defRPr sz="2200" b="1">
                <a:solidFill>
                  <a:srgbClr val="1D3557"/>
                </a:solidFill>
              </a:defRPr>
            </a:pPr>
            <a:r>
              <a:t>Executive Summary: Core Findings Across 96,478 Orders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457B9D"/>
                </a:solidFill>
              </a:defRPr>
            </a:pPr>
            <a:r>
              <a:t>96,478</a:t>
            </a:r>
          </a:p>
          <a:p>
            <a:pPr algn="ctr">
              <a:defRPr sz="1100">
                <a:solidFill>
                  <a:srgbClr val="444444"/>
                </a:solidFill>
              </a:defRPr>
            </a:pPr>
            <a:r>
              <a:t>Delivered Orders Analyzed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D3557"/>
                </a:solidFill>
              </a:defRPr>
            </a:pPr>
            <a:r>
              <a:t>4.07 / 5.0</a:t>
            </a:r>
          </a:p>
          <a:p>
            <a:pPr algn="ctr">
              <a:defRPr sz="1100">
                <a:solidFill>
                  <a:srgbClr val="444444"/>
                </a:solidFill>
              </a:defRPr>
            </a:pPr>
            <a:r>
              <a:t>Platform Average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D62828"/>
                </a:solidFill>
              </a:defRPr>
            </a:pPr>
            <a:r>
              <a:t>6.8%</a:t>
            </a:r>
          </a:p>
          <a:p>
            <a:pPr algn="ctr">
              <a:defRPr sz="1100">
                <a:solidFill>
                  <a:srgbClr val="444444"/>
                </a:solidFill>
              </a:defRPr>
            </a:pPr>
            <a:r>
              <a:t>Orders Delivered 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D62828"/>
                </a:solidFill>
              </a:defRPr>
            </a:pPr>
            <a:r>
              <a:t>1.69 / 5.0</a:t>
            </a:r>
          </a:p>
          <a:p>
            <a:pPr algn="ctr">
              <a:defRPr sz="1100">
                <a:solidFill>
                  <a:srgbClr val="444444"/>
                </a:solidFill>
              </a:defRPr>
            </a:pPr>
            <a:r>
              <a:t>Review Score at 7+ Days 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06984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D3557"/>
                </a:solidFill>
              </a:defRPr>
            </a:pPr>
            <a:r>
              <a:t>THE DELIVERY CLIFF EFFECT</a:t>
            </a:r>
          </a:p>
          <a:p>
            <a:pPr>
              <a:defRPr sz="1050">
                <a:solidFill>
                  <a:srgbClr val="444444"/>
                </a:solidFill>
              </a:defRPr>
            </a:pPr>
            <a:r>
              <a:t>Review scores do not degrade smoothly. A single day past estimate drops reviews from 4.28 to 2.70; at 7+ days late, average ratings collapse to 1.69.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94760"/>
            <a:ext cx="106984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D3557"/>
                </a:solidFill>
              </a:defRPr>
            </a:pPr>
            <a:r>
              <a:t>MULTI-SELLER COORDINATION DEFICIT</a:t>
            </a:r>
          </a:p>
          <a:p>
            <a:pPr>
              <a:defRPr sz="1050">
                <a:solidFill>
                  <a:srgbClr val="444444"/>
                </a:solidFill>
              </a:defRPr>
            </a:pPr>
            <a:r>
              <a:t>Orders split across multiple sellers suffer a 6.47x higher odds ratio of bad reviews (46% vs 9%), driven by partial tracking confusion rather than transit speed.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106984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D3557"/>
                </a:solidFill>
              </a:defRPr>
            </a:pPr>
            <a:r>
              <a:t>STRUCTURAL GEOGRAPHIC MISMATCH</a:t>
            </a:r>
          </a:p>
          <a:p>
            <a:pPr>
              <a:defRPr sz="1050">
                <a:solidFill>
                  <a:srgbClr val="444444"/>
                </a:solidFill>
              </a:defRPr>
            </a:pPr>
            <a:r>
              <a:t>60% of sellers are concentrated in Sao Paulo, while customers are dispersed nationwide. Cross-state orders double transit time and increase freight by 75%.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32120"/>
            <a:ext cx="106984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D3557"/>
                </a:solidFill>
              </a:defRPr>
            </a:pPr>
            <a:r>
              <a:t>PAYMENT BEHAVIOR IS A NON-DRIVER</a:t>
            </a:r>
          </a:p>
          <a:p>
            <a:pPr>
              <a:defRPr sz="1050">
                <a:solidFill>
                  <a:srgbClr val="444444"/>
                </a:solidFill>
              </a:defRPr>
            </a:pPr>
            <a:r>
              <a:t>Installments and payment methods have negligible statistical impact on reviews (OR 1.02x). Focus resources on logistics, not checkout payments.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57B9D"/>
                </a:solidFill>
              </a:defRPr>
            </a:pPr>
            <a:r>
              <a:t>OLIST MARKETPLACE ANALYTICS</a:t>
            </a:r>
          </a:p>
          <a:p>
            <a:pPr>
              <a:defRPr sz="2200" b="1">
                <a:solidFill>
                  <a:srgbClr val="1D3557"/>
                </a:solidFill>
              </a:defRPr>
            </a:pPr>
            <a:r>
              <a:t>Delivery Timing &amp; Customer Satisfaction: The Threshold Effect</a:t>
            </a:r>
          </a:p>
        </p:txBody>
      </p:sp>
      <p:pic>
        <p:nvPicPr>
          <p:cNvPr id="4" name="Picture 3" descr="fig1_delivery_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7307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0" y="1463040"/>
            <a:ext cx="41148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  <a:defRPr sz="1300" b="1">
                <a:solidFill>
                  <a:srgbClr val="1D3557"/>
                </a:solidFill>
              </a:defRPr>
            </a:pPr>
            <a:r>
              <a:t>ANALYTICAL TAKEAWAYS</a:t>
            </a:r>
          </a:p>
          <a:p>
            <a:pPr>
              <a:spcAft>
                <a:spcPts val="1200"/>
              </a:spcAft>
              <a:defRPr sz="1100">
                <a:solidFill>
                  <a:srgbClr val="444444"/>
                </a:solidFill>
              </a:defRPr>
            </a:pPr>
            <a:r>
              <a:t>- Non-Linear Cliff Effect: Being early earns negligible extra rating (4.17 - 4.30), but missing the estimated date drops ratings into immediate dissatisfaction (&lt; 2.70).</a:t>
            </a:r>
          </a:p>
          <a:p>
            <a:pPr>
              <a:spcAft>
                <a:spcPts val="1200"/>
              </a:spcAft>
              <a:defRPr sz="1100">
                <a:solidFill>
                  <a:srgbClr val="444444"/>
                </a:solidFill>
              </a:defRPr>
            </a:pPr>
            <a:r>
              <a:t>- Pearson Correlation: r = -0.27 across delay days, confirming that customers penalize delays asymmetrically.</a:t>
            </a:r>
          </a:p>
          <a:p>
            <a:pPr>
              <a:spcAft>
                <a:spcPts val="1200"/>
              </a:spcAft>
              <a:defRPr sz="1100">
                <a:solidFill>
                  <a:srgbClr val="444444"/>
                </a:solidFill>
              </a:defRPr>
            </a:pPr>
            <a:r>
              <a:t>- Strategic Takeaway: Speeding up shipments that are already on time produces diminishing returns. Priority must be eliminating late tail-risk.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57B9D"/>
                </a:solidFill>
              </a:defRPr>
            </a:pPr>
            <a:r>
              <a:t>OLIST MARKETPLACE ANALYTICS</a:t>
            </a:r>
          </a:p>
          <a:p>
            <a:pPr>
              <a:defRPr sz="2200" b="1">
                <a:solidFill>
                  <a:srgbClr val="1D3557"/>
                </a:solidFill>
              </a:defRPr>
            </a:pPr>
            <a:r>
              <a:t>Multivariate Logistic Regression: Isolating Root Drivers</a:t>
            </a:r>
          </a:p>
        </p:txBody>
      </p:sp>
      <p:pic>
        <p:nvPicPr>
          <p:cNvPr id="4" name="Picture 3" descr="fig2_odds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89520" y="1463040"/>
            <a:ext cx="3840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300" b="1">
                <a:solidFill>
                  <a:srgbClr val="1D3557"/>
                </a:solidFill>
              </a:defRPr>
            </a:pPr>
            <a:r>
              <a:t>MODEL SPECIFICATION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Model: sm.Logit predicting Low Review (1-2 Stars) across 96,000 orders (Pseudo R2 = 0.127).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Primary Drivers: Multi-seller orders (OR = 6.47x) and Delay days (OR = 1.09x/day).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Secondary Factors: Freight ratio (OR = 2.00x) and Items count (OR = 1.47x).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Robustness Validations: All VIFs &lt; 2.50. Out-of-sample AUC = 0.702 on 75/25 split. Confound test proved 46% vs 9% dissatisfaction even on small, on-time orders!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57B9D"/>
                </a:solidFill>
              </a:defRPr>
            </a:pPr>
            <a:r>
              <a:t>OLIST MARKETPLACE ANALYTICS</a:t>
            </a:r>
          </a:p>
          <a:p>
            <a:pPr>
              <a:defRPr sz="2200" b="1">
                <a:solidFill>
                  <a:srgbClr val="1D3557"/>
                </a:solidFill>
              </a:defRPr>
            </a:pPr>
            <a:r>
              <a:t>Geographic Disparity: Southeast Concentration vs Regional Delays</a:t>
            </a:r>
          </a:p>
        </p:txBody>
      </p:sp>
      <p:pic>
        <p:nvPicPr>
          <p:cNvPr id="4" name="Picture 3" descr="fig3_geo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400800" cy="3413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06640" y="1463040"/>
            <a:ext cx="402336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300" b="1">
                <a:solidFill>
                  <a:srgbClr val="1D3557"/>
                </a:solidFill>
              </a:defRPr>
            </a:pPr>
            <a:r>
              <a:t>LOGISTICS BOTTLENECK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- 59.7% of all sellers reside in Sao Paulo (SP), whereas SP represents only 42.0% of customer demand.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Cross-state shipments take an average of 14.7 days to arrive vs 7.5 days for intra-state delivery.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Freight charges on cross-state shipments are 75% higher (R$ 26.96 vs R$ 15.46).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Worst-affected states are in North/Northeast: Alagoas (21% late), Maranhao (18% late), and Sergipe (15% late).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57B9D"/>
                </a:solidFill>
              </a:defRPr>
            </a:pPr>
            <a:r>
              <a:t>OLIST MARKETPLACE ANALYTICS</a:t>
            </a:r>
          </a:p>
          <a:p>
            <a:pPr>
              <a:defRPr sz="2200" b="1">
                <a:solidFill>
                  <a:srgbClr val="1D3557"/>
                </a:solidFill>
              </a:defRPr>
            </a:pPr>
            <a:r>
              <a:t>Qualitative Review Intelligence: The Voice of Dissatisfaction</a:t>
            </a:r>
          </a:p>
        </p:txBody>
      </p:sp>
      <p:pic>
        <p:nvPicPr>
          <p:cNvPr id="4" name="Picture 3" descr="fig5_review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400800" cy="37651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06640" y="1463040"/>
            <a:ext cx="402336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300" b="1">
                <a:solidFill>
                  <a:srgbClr val="1D3557"/>
                </a:solidFill>
              </a:defRPr>
            </a:pPr>
            <a:r>
              <a:t>UNSTRUCTURED TEXT FINDINGS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- 41,753 reviews contained customer text comments. Disproportionate keyword ratios identify root causes.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Disappointment &amp; Neglect: decepcao (127x higher in bad reviews) and descaso (119x higher).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Counterfeit &amp; Misleading: enganosa (112x) and falsificado (57x), indicating product integrity issues.</a:t>
            </a:r>
          </a:p>
          <a:p>
            <a:pPr>
              <a:spcAft>
                <a:spcPts val="1000"/>
              </a:spcAft>
              <a:defRPr sz="1050">
                <a:solidFill>
                  <a:srgbClr val="444444"/>
                </a:solidFill>
              </a:defRPr>
            </a:pPr>
            <a:r>
              <a:t>- Regulatory Threat: Mentions of procon (Brazil consumer agency, 27x) signal legal and reputational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57B9D"/>
                </a:solidFill>
              </a:defRPr>
            </a:pPr>
            <a:r>
              <a:t>OLIST MARKETPLACE ANALYTICS</a:t>
            </a:r>
          </a:p>
          <a:p>
            <a:pPr>
              <a:defRPr sz="2200" b="1">
                <a:solidFill>
                  <a:srgbClr val="1D3557"/>
                </a:solidFill>
              </a:defRPr>
            </a:pPr>
            <a:r>
              <a:t>Strategic Recommendations: Prioritized Roadmap for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62828"/>
                </a:solidFill>
              </a:defRPr>
            </a:pPr>
            <a:r>
              <a:t>Priority 1: EDT Dynamic Recalibration &amp; Regional Hubs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Recalibrate delivery estimation algorithm specifically for cross-state routes to halt systematic over-promising. Establish regional 3PL fulfillment partnerships in Recife and Salvador.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76F51"/>
                </a:solidFill>
              </a:defRPr>
            </a:pPr>
            <a:r>
              <a:t>Priority 2: Multi-Seller Order Coordination &amp; Tracking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Overhaul post-checkout notifications for split-seller baskets. Provide unified dispatch timelines and single-dashboard tracking to eliminate customer anxiety.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57B9D"/>
                </a:solidFill>
              </a:defRPr>
            </a:pPr>
            <a:r>
              <a:t>Priority 3: Category-Specific Handling &amp; Packaging SLAs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Enforce heavy-goods packaging audits and dedicated freight carrier assignment for bulky furniture items (Office Furniture: 3.51 avg review).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6636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A9D8F"/>
                </a:solidFill>
              </a:defRPr>
            </a:pPr>
            <a:r>
              <a:t>Resource Savings: Rule Out Payment System Overhauls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Installment count and payment type have negligible statistical relationship to customer reviews. Avoid diverting developer bandwidth to checkout payments.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